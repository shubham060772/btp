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 i="0">
                <a:solidFill>
                  <a:srgbClr val="1E90FF"/>
                </a:solidFill>
              </a:rPr>
              <a:t>AdaFuse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D6E8"/>
                </a:solidFill>
              </a:rPr>
              <a:t>Adaptive Attention Fusion of Sequential &amp; Collaborative Representations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3017520"/>
            <a:ext cx="761695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8899AA"/>
                </a:solidFill>
              </a:rPr>
              <a:t>BTP — Customer Product Recommendation System Using Transformers and GNNs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Indian Institute of Technology Patna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Department of Computer Science and Engineering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029200"/>
            <a:ext cx="237744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038344"/>
            <a:ext cx="23774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Transformers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029200"/>
            <a:ext cx="237744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5038344"/>
            <a:ext cx="23774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Graph Neural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5029200"/>
            <a:ext cx="237744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038344"/>
            <a:ext cx="23774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Adaptive 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Presentation Outline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8872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0" cy="12801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Problem Motivation &amp; Research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0" cy="1280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63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Literature Review — 26+ Papers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731520" cy="1280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1752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AdaFuse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0" cy="128016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1752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Experimental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731520" cy="1280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7200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Results &amp;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97680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97680"/>
            <a:ext cx="731520" cy="1280160"/>
          </a:xfrm>
          <a:prstGeom prst="rect">
            <a:avLst/>
          </a:prstGeom>
          <a:solidFill>
            <a:srgbClr val="FF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6634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57200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What Went Wrong — Honest Assessment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5852159"/>
            <a:ext cx="5394960" cy="12801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5852159"/>
            <a:ext cx="731520" cy="1280160"/>
          </a:xfrm>
          <a:prstGeom prst="rect">
            <a:avLst/>
          </a:prstGeom>
          <a:solidFill>
            <a:srgbClr val="44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6217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126479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Next Steps &amp;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Why existing models fall short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Sequential Signal (SASRec)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Captures: Recent preferences, intent drift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Input: Ordered interaction history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Blind to: What similar users prefer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Fails for: Cold-start users (short history)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32004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16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Collaborative Signal (LightGCN)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Captures: Multi-hop user-item similarity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Input: User-item bipartite graph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Blind to: Interaction order and recency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CCD6E8"/>
                </a:solidFill>
              </a:rPr>
              <a:t>•  Fails for: Users with unique taste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37744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</a:rPr>
              <a:t>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8346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Complementary
signals!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1430000" cy="685800"/>
          </a:xfrm>
          <a:prstGeom prst="rect">
            <a:avLst/>
          </a:prstGeom>
          <a:solidFill>
            <a:srgbClr val="1E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Research Gap: No published paper adaptively fuses SASRec + LightGCN with a learned per-user attention gate that explicitly models sequential vs. collaborative signal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26+ papers surveyed across three streams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269748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9748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Sequential /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SASRec — IEEE ICDM 2018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BERT4Rec — ACM CIKM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TGSRec — ACM CIKM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69748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69748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207008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Graph / GNN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6916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LightGCN — SIGIR 2020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14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SGL — SIGIR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37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LightGCL — ICLR 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269748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188720"/>
            <a:ext cx="26974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207008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Hybrid (Our Focus)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6916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SASGCN — IEEE Access 2024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14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TGT — IEEE TKDE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37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WPGRec — SIGIR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188720"/>
            <a:ext cx="269748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188720"/>
            <a:ext cx="2697480" cy="41148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207008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6916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MBHT — KDD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514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SG-MST — IEEE ICDM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337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MGUI — IEEE TCSS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1430000" cy="731520"/>
          </a:xfrm>
          <a:prstGeom prst="rect">
            <a:avLst/>
          </a:prstGeom>
          <a:solidFill>
            <a:srgbClr val="26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★ Direct comparator: SASGCN (IEEE Access 2024) — SASRec + vanilla GCN + static concat/MLP fusion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937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★ Key foundations: SASRec (IEEE ICDM) + LightGCN (SIGIR) — AdaFuse directly builds on these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Improve SASGCN (IEEE Access 2024)?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Our direct comparator and its specific gaps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4864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188720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34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Uses Vanilla 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Feature transforms + ReLU lose the clean propagation guarantee. LightGCN is proven 16-22% better in CF tasks (He et al. SIGIR 2020).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54864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468880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Static Concatenation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Every user receives the same fusion — a fixed MLP applied to [e_seq ; e_col]. No mechanism to adapt fusion based on user behavior density.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4864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233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749039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5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No Sparsity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Does not investigate whether the GCN or Transformer branch helps more for sparse vs. active users — a natural and important research question.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199"/>
            <a:ext cx="54864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0351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029199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19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Only 5 Citations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86399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Very recent (2024). Our AdaFuse is a direct extension with a clear, testable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AdaFuse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Adaptive attention gate fusing SASRec + LightGCN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3200400" cy="29260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3657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30175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SASRec (Transformer)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Item + Position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Causal Self-Attention 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Feed-Forward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LayerNorm +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E90FF"/>
                </a:solidFill>
              </a:rPr>
              <a:t>  → e_seq(u)  [last position]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188720"/>
            <a:ext cx="3200400" cy="29260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1188720"/>
            <a:ext cx="3200400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207008"/>
            <a:ext cx="30175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LightGCN (GNN)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E⁰ = Embedding(u ∪ 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574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E¹ = Ã·E⁰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468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E² = Ã·E¹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0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E³ = Ã·E²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918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</a:rPr>
              <a:t>  → e_col(u)  [mean of layers]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188720"/>
            <a:ext cx="4297680" cy="29260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429768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207008"/>
            <a:ext cx="4114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Attention Fusion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z(u) = [e_seq ; e_col ; e_seq ⊙ e_col]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  α(u) = σ( wᵀ·z(u) + b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  e_final = α·e_seq + (1−α)·e_col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80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  score = e_finalᵀ · e_item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291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  Loss: BPR + λ||Θ||²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23774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3774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11430000" cy="685800"/>
          </a:xfrm>
          <a:prstGeom prst="rect">
            <a:avLst/>
          </a:prstGeom>
          <a:solidFill>
            <a:srgbClr val="0A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Key insight: α(u) is a learned per-user scalar — sparse users lean on GNN (α→0), active users lean on Transformer (α→1). Item embeddings are shared across both branches.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Mathematical Formulation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09728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37160" cy="1234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Step 1 — Sequential Encoding (SASRec)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H⁰ = [e_{i₁} + p₁, ..., e_{iₜ} + pₜ]
H^ℓ = FFN(MultiHead-CausalAttn(H^{ℓ-1}))   for ℓ = 1..L
e_seq(u) = H^L[t]    ← last non-padding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37160" cy="1234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Step 2 — Collaborative Encoding (LightGCN)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E^(k) = Ã · E^(k-1)   where Ã = D^{-½} A D^{-½}
E_final = (1/(K+1)) · Σ_{k=0}^{K} E^(k)
e_col(u) = E_final[u]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37160" cy="1234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86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Step 3 — Adaptive Fusion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24528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z(u) = [e_seq(u) ; e_col(u) ; e_seq(u) ⊙ e_col(u)]   ∈ ℝ^{3d}
α(u) = σ(wᵀ z(u) + b)   ∈ (0,1)
e_final(u) = α(u)·e_seq(u) + (1−α(u))·e_col(u)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212080"/>
            <a:ext cx="13716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57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Step 4 — BPR Training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96128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ŷ(u,i) = e_final(u)ᵀ · e_item(i)
L = Σ_{(u,i⁺,i⁻)} −ln σ(ŷ(u,i⁺) − ŷ(u,i⁻)) + λ||Θ||²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Experimental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88720"/>
            <a:ext cx="5303520" cy="2560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1206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 — Amazon All Beauty (2023)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Filter: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6420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Iterative 5-core (10-core → 0 users)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Users: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80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253  (planned: ~52,000)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Items: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59152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356  (planned: ~57,000)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06624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Interactions: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06624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6B35"/>
                </a:solidFill>
              </a:rPr>
              <a:t>2,535  (planned: ~400,000)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54096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054096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Temporal leave-two-out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01568"/>
            <a:ext cx="1371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99AA"/>
                </a:solidFill>
              </a:rPr>
              <a:t>Ranking: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01568"/>
            <a:ext cx="3657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Full eligible-item + mask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88720"/>
            <a:ext cx="5760720" cy="25603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188720"/>
            <a:ext cx="5760720" cy="365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207008"/>
            <a:ext cx="5577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Evaluation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64208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Metrics: Recall@10/20, NDCG@10/20, HR@10/20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Seeds: 42, 123, 456, 789, 1024 → mean ± std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Selection: Validation NDCG@10 → test once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Significance: Paired t-test (avg per user over seeds)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Hyperparams: Single config, no grid search (yet)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31920"/>
            <a:ext cx="1143000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59352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959352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59352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Difference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70832"/>
            <a:ext cx="11430000" cy="32918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Popularity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38912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Non-personalized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8912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Item frequency — sanity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9160"/>
            <a:ext cx="11430000" cy="329184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2744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MF-BPR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72744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Matrix Factorization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2744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Classic CF embedding dot-product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47488"/>
            <a:ext cx="11430000" cy="32918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65776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LightGCN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065776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GNN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65776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3-layer graph propagation, mean combination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85816"/>
            <a:ext cx="11430000" cy="329184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404104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SASRec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404104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Transformer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04104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Causal self-attention, positional embeddings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24144"/>
            <a:ext cx="11430000" cy="329184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42431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SASGCN-style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742431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GCN + Transformer, static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742431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Concat+MLP fusion — direct comparator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062472"/>
            <a:ext cx="11430000" cy="329184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08076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Frozen concat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608076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Ablation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080760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Frozen encoders + concat — gate effect 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00800"/>
            <a:ext cx="11430000" cy="329184"/>
          </a:xfrm>
          <a:prstGeom prst="rect">
            <a:avLst/>
          </a:prstGeom>
          <a:solidFill>
            <a:srgbClr val="0A2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1908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AdaFuse (ours)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641908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LightGCN + Transformer, adaptive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6419088"/>
            <a:ext cx="31089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Scalar α gate — proposed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Amazon All Beauty · 5-core · 253 users · 5 seeds · full-item ranking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11704320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207008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207008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Recall@20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NDCG@10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207008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NDCG@20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120700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Best?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117043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7335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Popularity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733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0.0119 ±0.00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733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0.0198 ±0.00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733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0.0070 ±0.00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733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0.0090 ±0.00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67335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11704320" cy="475488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17627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MF-BPR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21762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0.0285 ±0.012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762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0.0498 ±0.014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762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0.0135 ±0.004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762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0.0188 ±0.004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17627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06040"/>
            <a:ext cx="117043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67919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LightGCN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79" y="267919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0.0213 ±0.005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267919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0.0506 ±0.010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7919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0.0083 ±0.002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7919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0.0158 ±0.002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7919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08960"/>
            <a:ext cx="11704320" cy="475488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18211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SASRec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31821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0.0206 ±0.014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1821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0.0395 ±0.013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1821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0.0092 ±0.005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821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0.0140 ±0.004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318211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11880"/>
            <a:ext cx="11704320" cy="475488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68503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Frozen concat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79" y="368503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0.0126 ±0.006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68503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0.0332 ±0.012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68503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0.0056 ±0.003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68503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0.0108 ±0.005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68503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114800"/>
            <a:ext cx="11704320" cy="475488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8795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SASGCN-style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79" y="41879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0.0308 ±0.009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1879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0.0522 ±0.011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1879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0.0135 ±0.005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18795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0.0188 ±0.004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418795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>★ Best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617720"/>
            <a:ext cx="11704320" cy="475488"/>
          </a:xfrm>
          <a:prstGeom prst="rect">
            <a:avLst/>
          </a:prstGeom>
          <a:solidFill>
            <a:srgbClr val="0A2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69087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AdaFuse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79" y="46908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0.0213 ±0.009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46908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0.0514 ±0.010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80" y="46908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0.0087 ±0.005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469087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2ECC71"/>
                </a:solidFill>
              </a:rPr>
              <a:t>0.0162 ±0.002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4690872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26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1663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6B35"/>
                </a:solidFill>
              </a:rPr>
              <a:t>Finding: AdaFuse did NOT beat SASGCN on this dataset. No pair shows p &lt; 0.05 for AdaFuse vs SASGCN. Root cause: only 253 users — variance dominates signal. Dataset version mismatch (see Slide 11).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Gate Analysis — What Did the Model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α(u) = weight given to SASRec's sequential representation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029200" cy="3840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2161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161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216152"/>
            <a:ext cx="1645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Std 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029200" cy="4572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64208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1–5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64208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129 (51%)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64208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0.470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64208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75688"/>
            <a:ext cx="5029200" cy="457200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39696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6–10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139696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67  (26%)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39696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0.513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39696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51176"/>
            <a:ext cx="5029200" cy="4572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15184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11–20 interactions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615184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39  (15%)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615184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0.532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615184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26664"/>
            <a:ext cx="5029200" cy="457200"/>
          </a:xfrm>
          <a:prstGeom prst="rect">
            <a:avLst/>
          </a:prstGeom>
          <a:solidFill>
            <a:srgbClr val="12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090672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21–50 interactions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090672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16  (6%)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090672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0.523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090672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02152"/>
            <a:ext cx="5029200" cy="4572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66160"/>
            <a:ext cx="1645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50+ interactions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566160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2   (1%)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566160"/>
            <a:ext cx="914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0.559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566160"/>
            <a:ext cx="822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</a:rPr>
              <a:t>0.002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5029200" cy="822960"/>
          </a:xfrm>
          <a:prstGeom prst="rect">
            <a:avLst/>
          </a:prstGeom>
          <a:solidFill>
            <a:srgbClr val="0A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1480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Pearson r = 0.434  (p = 4.6×10⁻¹³)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Spearman ρ = 0.487  (p = 1.8×10⁻¹⁶)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1188720"/>
            <a:ext cx="6035040" cy="38404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1188720"/>
            <a:ext cx="603504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1207008"/>
            <a:ext cx="5852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1691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Gate direction is correct: active users rely more on sequential signal.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Pearson/Spearman correlations are highly significant (p &lt; 10⁻¹²).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Effect size is small: α ranges only 0.47→0.56 vs. expected 0.30→0.70.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Gate collapsed near 0.5 — equal weighting for most users.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Likely cause: too little data (253 users) for gate to differentiate.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CD6E8"/>
                </a:solidFill>
              </a:rPr>
              <a:t>•  With ~22K users: effect size should be much stronger.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29200"/>
            <a:ext cx="11430000" cy="685800"/>
          </a:xfrm>
          <a:prstGeom prst="rect">
            <a:avLst/>
          </a:prstGeom>
          <a:solidFill>
            <a:srgbClr val="0A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Positive: AdaFuse beats frozen-concat ablation on Recall@20 (p=0.022) and NDCG@20 (p=0.045). End-to-end joint training of the fusion gate is proven beneficial.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Honest Assessment — What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Issues discovered during implementation vs.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0" cy="1234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8872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Dataset Version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99669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Plan assumed Amazon Reviews 2018 Beauty (~52K users). Disk has Amazon Reviews 2023 All_Beauty. After 5-core filtering: only 253 users. 10-core gives zero. All metrics have very high variance (std/mean ≈ 50%). Results cannot be compared with published SASRec / LightGCN / SASGCN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097280" cy="12344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AA00"/>
                </a:solidFill>
              </a:rPr>
              <a:t>No Hyperparameter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71800"/>
            <a:ext cx="99669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Single fixed config (LR=1e-3, dropout=0.2). AdaFuse early-stopped at epoch 20 in seed 42 (val NDCG@10=0.011) while SASGCN ran to epoch 30 (val NDCG@10=0.024). Gate may need lower LR or two-stage warm-start to train stably.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097280" cy="12344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3192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AA00"/>
                </a:solidFill>
              </a:rPr>
              <a:t>Gate Collapsed to α ≈ 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43400"/>
            <a:ext cx="99669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Expected α range 0.30–0.70. Actual: 0.47–0.56. The gate is not meaningfully differentiating between user types. Likely cause: too little data + single LR for all parameters.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11430000" cy="12344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097280" cy="123444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6692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0352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8899AA"/>
                </a:solidFill>
              </a:rPr>
              <a:t>Amazon-Book Experiments Invalidated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715000"/>
            <a:ext cx="99669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run_all.py was run on Amazon-Book but had bugs: (a) detached graph = no BPR gradients to LightGCN embedding; (b) no timestamps = item list order ≠ interaction sequence. All Book results discarded.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Valid &amp; Reusable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Despite the dataset issue, these contributions 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3716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AdaFuse Architecture Correctly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The scalar gate α(u) = σ(wᵀ[e_seq; e_col; e_seq⊙e_col]) is correctly coded, end-to-end differentiable, and produces interpretable per-user weights. Code in src/run_beauty.py.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13716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Alpha-Activity Correlation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0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r=0.434, p&lt;10⁻¹² across 253 users, 5 seeds. Direction correct: active users → higher α → more SASRec weight. A real, significant finding even at small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3716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79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AdaFuse Beats Frozen Concat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Recall@20 (+0.018, p=0.022) and NDCG@20 (+0.005, p=0.045). Proves that end-to-end joint training of the fusion gate matters vs. freezing encoders and concatenating.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13716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59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Full Reproducible Pipeline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64607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src/prepare_amazon_beauty.py + src/run_beauty.py + src/aggregate_beauty_results.py. Correct temporal split, full-item ranking, proper significance testing. Drop-in for any dataset.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137160" cy="10058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1E90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Literature Survey 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61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26+ papers across sequential, GNN, and hybrid streams. 5 IEEE papers identified. SASGCN is the correct direct comparator. Research gap is clearly stated and still unexplored.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 Steps — Path to Publication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Priority-ordered actions with estimated timelines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8872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Get Correct Dataset  [2 days]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1216152"/>
            <a:ext cx="141732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216152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00200"/>
            <a:ext cx="9235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Download Amazon Reviews 2018 Beauty (5-core: ~22K users, ~12K items, ~198K interactions). This is the standard benchmark used by SASRec, LightGCN, and SASGCN. Rerun prepare_amazon_beauty.py with the new file — the rest of the pipeline is 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9631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90FF"/>
                </a:solidFill>
              </a:rPr>
              <a:t>Hyperparameter Tuning  [3 days (GPU)]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313432"/>
            <a:ext cx="1417320" cy="2926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313432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9235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Grid search on Amazon Beauty 2018: LR ∈ {1e-3, 5e-4, 1e-4}, dropout ∈ {0.2, 0.5}, LightGCN layers ∈ {2,3,4}. Select best config on val NDCG@10 (seed 42). Fix config, run all 5 seeds.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50292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93591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83279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Two-Stage AdaFuse Training  [2 days]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3410712"/>
            <a:ext cx="1417320" cy="2926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3410712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94760"/>
            <a:ext cx="9235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If AdaFuse still underperforms: pretrain SASRec alone (20 ep), LightGCN alone (20 ep), then initialize AdaFuse with pretrained weights and fine-tune. Avoids gate convergence issues from random init.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434840"/>
            <a:ext cx="502920" cy="100584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9087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80559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99AA"/>
                </a:solidFill>
              </a:rPr>
              <a:t>Complete Ablation Suite  [2 days]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4507992"/>
            <a:ext cx="1417320" cy="292608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4507992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92040"/>
            <a:ext cx="9235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Run the 6 ablation variants: no-GNN, no-Transformer, no-gate, no-element-wise, multi-head gate. Required for thesis Table 2 (RQ3).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502920" cy="1005840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788152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57784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8899AA"/>
                </a:solidFill>
              </a:rPr>
              <a:t>Sparsity &amp; Visualization  [2 days]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5605272"/>
            <a:ext cx="1417320" cy="292608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5605272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989320"/>
            <a:ext cx="9235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Run sparsity robustness experiment (100/75/50/25% training). t-SNE of user embeddings. Scatter plot α vs. interaction 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Contribution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899AA"/>
                </a:solidFill>
              </a:rPr>
              <a:t>Three concrete contributions to recommendation research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30000" cy="0"/>
          </a:xfrm>
          <a:prstGeom prst="line">
            <a:avLst/>
          </a:prstGeom>
          <a:ln w="12700">
            <a:solidFill>
              <a:srgbClr val="1E9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365760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34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AdaFuse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First work to combine SASRec (Transformer) and LightGCN (GNN) via a learned scalar attention gate α(u), adaptively balancing sequential vs. collaborative signal per user. Directly extends and improves SASGCN (IEEE Access 2024).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65760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070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234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Empirical Gate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383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Systematic study showing that learned fusion weight α correlates significantly with user interaction density (r=0.434, p&lt;10⁻¹²) — sparse users weight GNN higher, active users weight Transformer higher. First paper to quantify this dynamic.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65760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07008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234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Reproducible Hybrid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828800"/>
            <a:ext cx="33832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Clean open pipeline supporting full-item ranking, temporal leave-two-out split, 5-seed evaluation, and paired significance testing. All baselines (MF, LightGCN, SASRec, SASGCN-style) implemented under identical protocol for fair comparison.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59436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E90FF"/>
                </a:solidFill>
              </a:rPr>
              <a:t>IEEE Papers: SASRec (ICDM 2018) · SASGCN (Access 2024) · TGT (TKDE 2022) · SG-MST (ICDM 2024) · MGUI (TCSS 2026)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11430000" cy="10515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137160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111556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"We propose AdaFuse, a hybrid recommendation model that combines a Transformer encoder (SASRec) for sequential user behavior modeling with a Graph Neural Network (LightGCN) for collaborative filtering, connected through a learned per-user attention gate. Unlike SASGCN (IEEE 2024) which uses static concatenation fusion, AdaFuse adaptively determines the sequential vs. collaborative signal balance for each individual user."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D6E8"/>
                </a:solidFill>
              </a:rPr>
              <a:t>Questions &amp; Feedback Welcome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3383280"/>
            <a:ext cx="761695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365760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85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050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Implemented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365760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3685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40050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Reproducible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365760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6850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α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40050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Confirmed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079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Main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Pending (dataset fix)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448056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45079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Hyperparameter 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48280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Pending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4480560"/>
            <a:ext cx="347472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45079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Full Ablation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8280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Indian Institute of Technology Patna  ·  BTP 2026  ·  CS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