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3601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38BDF8"/>
                </a:solidFill>
                <a:latin typeface="Aptos Display"/>
              </a:rPr>
              <a:t>AdaFuse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7EEF8"/>
                </a:solidFill>
                <a:latin typeface="Aptos"/>
              </a:rPr>
              <a:t>Adaptive Attention Fusion of Sequential &amp; Collaborative Representations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3017520"/>
            <a:ext cx="7616952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127248"/>
            <a:ext cx="10360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5A8BE"/>
                </a:solidFill>
                <a:latin typeface="Aptos"/>
              </a:rPr>
              <a:t>BTP — Customer Product Recommendation System Using Transformers and GNNs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60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7EEF8"/>
                </a:solidFill>
                <a:latin typeface="Aptos"/>
              </a:rPr>
              <a:t>Indian Institute of Technology Patna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60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5A8BE"/>
                </a:solidFill>
                <a:latin typeface="Aptos"/>
              </a:rPr>
              <a:t>Department of Computer Science and Engineering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968" y="5056632"/>
            <a:ext cx="2377440" cy="40233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029968" y="5065776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Transformers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5056632"/>
            <a:ext cx="2377440" cy="40233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910328" y="5065776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Graph Neural Networks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5056632"/>
            <a:ext cx="2377440" cy="40233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790688" y="5065776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Adaptive 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Presentation Outline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225296"/>
            <a:ext cx="5440680" cy="987552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658368" cy="9875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02920" y="1490472"/>
            <a:ext cx="6583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35024"/>
            <a:ext cx="43708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7EEF8"/>
                </a:solidFill>
                <a:latin typeface="Aptos"/>
              </a:rPr>
              <a:t>Problem Motivation &amp; Research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225296"/>
            <a:ext cx="5440680" cy="987552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6245352" y="1225296"/>
            <a:ext cx="658368" cy="9875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245352" y="1490472"/>
            <a:ext cx="6583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1335024"/>
            <a:ext cx="43708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7EEF8"/>
                </a:solidFill>
                <a:latin typeface="Aptos"/>
              </a:rPr>
              <a:t>Literature Review — 26+ Papers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96312"/>
            <a:ext cx="5440680" cy="987552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Rectangle 13"/>
          <p:cNvSpPr/>
          <p:nvPr/>
        </p:nvSpPr>
        <p:spPr>
          <a:xfrm>
            <a:off x="502920" y="2496312"/>
            <a:ext cx="658368" cy="9875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02920" y="2761488"/>
            <a:ext cx="6583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606040"/>
            <a:ext cx="43708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7EEF8"/>
                </a:solidFill>
                <a:latin typeface="Aptos"/>
              </a:rPr>
              <a:t>AdaFuse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2496312"/>
            <a:ext cx="5440680" cy="987552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Rectangle 17"/>
          <p:cNvSpPr/>
          <p:nvPr/>
        </p:nvSpPr>
        <p:spPr>
          <a:xfrm>
            <a:off x="6245352" y="2496312"/>
            <a:ext cx="658368" cy="9875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245352" y="2761488"/>
            <a:ext cx="6583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606040"/>
            <a:ext cx="43708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7EEF8"/>
                </a:solidFill>
                <a:latin typeface="Aptos"/>
              </a:rPr>
              <a:t>Experimental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67328"/>
            <a:ext cx="5440680" cy="987552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Rectangle 21"/>
          <p:cNvSpPr/>
          <p:nvPr/>
        </p:nvSpPr>
        <p:spPr>
          <a:xfrm>
            <a:off x="502920" y="3767328"/>
            <a:ext cx="658368" cy="9875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502920" y="4032504"/>
            <a:ext cx="6583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877056"/>
            <a:ext cx="43708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7EEF8"/>
                </a:solidFill>
                <a:latin typeface="Aptos"/>
              </a:rPr>
              <a:t>Results &amp;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3767328"/>
            <a:ext cx="5440680" cy="987552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Rectangle 25"/>
          <p:cNvSpPr/>
          <p:nvPr/>
        </p:nvSpPr>
        <p:spPr>
          <a:xfrm>
            <a:off x="6245352" y="3767328"/>
            <a:ext cx="658368" cy="9875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245352" y="4032504"/>
            <a:ext cx="6583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3877056"/>
            <a:ext cx="43708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7EEF8"/>
                </a:solidFill>
                <a:latin typeface="Aptos"/>
              </a:rPr>
              <a:t>What Went Wrong — Honest Assessment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4136" y="5038344"/>
            <a:ext cx="5440680" cy="987552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Rectangle 29"/>
          <p:cNvSpPr/>
          <p:nvPr/>
        </p:nvSpPr>
        <p:spPr>
          <a:xfrm>
            <a:off x="3374136" y="5038344"/>
            <a:ext cx="658368" cy="9875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3374136" y="5303520"/>
            <a:ext cx="6583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7096" y="5148072"/>
            <a:ext cx="43708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7EEF8"/>
                </a:solidFill>
                <a:latin typeface="Aptos"/>
              </a:rPr>
              <a:t>Next Steps &amp; Timeline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8BE"/>
                </a:solidFill>
                <a:latin typeface="Aptos"/>
              </a:rPr>
              <a:t>Why existing models fall short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7EEF8"/>
                </a:solidFill>
                <a:latin typeface="Aptos"/>
              </a:rPr>
              <a:t>Sequential Signal (SASRec)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EF8"/>
                </a:solidFill>
                <a:latin typeface="Aptos"/>
              </a:rPr>
              <a:t>•  Captures: Recent preferences, intent drift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EF8"/>
                </a:solidFill>
                <a:latin typeface="Aptos"/>
              </a:rPr>
              <a:t>•  Input: Ordered interaction history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EF8"/>
                </a:solidFill>
                <a:latin typeface="Aptos"/>
              </a:rPr>
              <a:t>•  Blind to: What similar users prefer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EF8"/>
                </a:solidFill>
                <a:latin typeface="Aptos"/>
              </a:rPr>
              <a:t>•  Fails for: Cold-start users (short history)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32004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309360" y="12161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7EEF8"/>
                </a:solidFill>
                <a:latin typeface="Aptos"/>
              </a:rPr>
              <a:t>Collaborative Signal (LightGCN)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EF8"/>
                </a:solidFill>
                <a:latin typeface="Aptos"/>
              </a:rPr>
              <a:t>•  Captures: Multi-hop user-item similarity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EF8"/>
                </a:solidFill>
                <a:latin typeface="Aptos"/>
              </a:rPr>
              <a:t>•  Input: User-item bipartite graph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EF8"/>
                </a:solidFill>
                <a:latin typeface="Aptos"/>
              </a:rPr>
              <a:t>•  Blind to: Interaction order and recency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7EEF8"/>
                </a:solidFill>
                <a:latin typeface="Aptos"/>
              </a:rPr>
              <a:t>•  Fails for: Users with unique taste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240280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97316"/>
                </a:solidFill>
                <a:latin typeface="Aptos"/>
              </a:rPr>
              <a:t>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2660904"/>
            <a:ext cx="13898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97316"/>
                </a:solidFill>
                <a:latin typeface="Aptos"/>
              </a:rPr>
              <a:t>Complementary
signals!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72000"/>
            <a:ext cx="11430000" cy="685800"/>
          </a:xfrm>
          <a:prstGeom prst="rect">
            <a:avLst/>
          </a:prstGeom>
          <a:solidFill>
            <a:srgbClr val="163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C55E"/>
                </a:solidFill>
                <a:latin typeface="Aptos"/>
              </a:rPr>
              <a:t>Research Gap: No published paper adaptively fuses SASRec + LightGCN with a learned per-user attention gate that explicitly models sequential vs. collaborative signal balance.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8BE"/>
                </a:solidFill>
                <a:latin typeface="Aptos"/>
              </a:rPr>
              <a:t>26+ papers surveyed across three streams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2697480" cy="347472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9748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Sequential / Transformer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SASRec — IEEE ICDM 2018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BERT4Rec — ACM CIKM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TGSRec — ACM CIKM 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697480" cy="347472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69748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246120" y="12070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Graph / GNN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LightGCN — SIGIR 2020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514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SGL — SIGIR 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LightGCL — ICLR 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188720"/>
            <a:ext cx="2697480" cy="347472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Rectangle 18"/>
          <p:cNvSpPr/>
          <p:nvPr/>
        </p:nvSpPr>
        <p:spPr>
          <a:xfrm>
            <a:off x="6035040" y="1188720"/>
            <a:ext cx="26974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080760" y="12070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Hybrid (Our Focus)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SASGCN — IEEE Access 2024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514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TGT — IEEE TKDE 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WPGRec — SIGIR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1188720"/>
            <a:ext cx="2697480" cy="347472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Rectangle 24"/>
          <p:cNvSpPr/>
          <p:nvPr/>
        </p:nvSpPr>
        <p:spPr>
          <a:xfrm>
            <a:off x="8869680" y="1188720"/>
            <a:ext cx="2697480" cy="411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915400" y="12070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Multi-Behavior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MBHT — KDD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514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SG-MST — IEEE ICDM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MGUI — IEEE TCSS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00600"/>
            <a:ext cx="11430000" cy="731520"/>
          </a:xfrm>
          <a:prstGeom prst="rect">
            <a:avLst/>
          </a:prstGeom>
          <a:solidFill>
            <a:srgbClr val="302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97316"/>
                </a:solidFill>
                <a:latin typeface="Aptos"/>
              </a:rPr>
              <a:t>★ Direct comparator: SASGCN (IEEE Access 2024) — SASRec + vanilla GCN + static concat/MLP fusion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93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7EEF8"/>
                </a:solidFill>
                <a:latin typeface="Aptos"/>
              </a:rPr>
              <a:t>★ Key foundations: SASRec (IEEE ICDM) + LightGCN (SIGIR) — AdaFuse directly builds on these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Why Improve SASGCN (IEEE Access 2024)?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8BE"/>
                </a:solidFill>
                <a:latin typeface="Aptos"/>
              </a:rPr>
              <a:t>Our direct comparator and its specific gaps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548640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188720"/>
            <a:ext cx="10789920" cy="109728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9728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8BDF8"/>
                </a:solidFill>
                <a:latin typeface="Aptos"/>
              </a:rPr>
              <a:t>Uses Vanilla GCN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Feature transforms + ReLU lose the clean propagation guarantee. LightGCN is proven 16-22% better in CF tasks (He et al. SIGIR 2020).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548640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468880"/>
            <a:ext cx="10789920" cy="109728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97280" y="2514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8BDF8"/>
                </a:solidFill>
                <a:latin typeface="Aptos"/>
              </a:rPr>
              <a:t>Static Concatenation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Every user receives the same fusion — a fixed MLP applied to [e_seq ; e_col]. No mechanism to adapt fusion based on user behavior density.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548640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5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749039"/>
            <a:ext cx="10789920" cy="109728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97280" y="37947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8BDF8"/>
                </a:solidFill>
                <a:latin typeface="Aptos"/>
              </a:rPr>
              <a:t>No Sparsity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06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Does not investigate whether the GCN or Transformer branch helps more for sparse vs. active users — a natural and important research question.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199"/>
            <a:ext cx="548640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365760" y="530351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7EEF8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029199"/>
            <a:ext cx="10789920" cy="109728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97280" y="50749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8BDF8"/>
                </a:solidFill>
                <a:latin typeface="Aptos"/>
              </a:rPr>
              <a:t>Only 5 Citations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8639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EEF8"/>
                </a:solidFill>
                <a:latin typeface="Aptos"/>
              </a:rPr>
              <a:t>Very recent (2024). Our AdaFuse is a direct extension with a clear, testable improvement.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AdaFuse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8BE"/>
                </a:solidFill>
                <a:latin typeface="Aptos"/>
              </a:rPr>
              <a:t>Adaptive attention gate fusing SASRec + LightGCN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3200400" cy="292608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2004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EF8"/>
                </a:solidFill>
                <a:latin typeface="Aptos"/>
              </a:rPr>
              <a:t>SASRec (Transformer)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  Item + Position 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  Causal Self-Attention 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  Feed-Forward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  LayerNorm + Dropout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BDF8"/>
                </a:solidFill>
                <a:latin typeface="Aptos"/>
              </a:rPr>
              <a:t>  → e_seq(u)  [last position]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188720"/>
            <a:ext cx="3200400" cy="292608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Rectangle 14"/>
          <p:cNvSpPr/>
          <p:nvPr/>
        </p:nvSpPr>
        <p:spPr>
          <a:xfrm>
            <a:off x="4023360" y="1188720"/>
            <a:ext cx="3200400" cy="3657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114800" y="1207008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EF8"/>
                </a:solidFill>
                <a:latin typeface="Aptos"/>
              </a:rPr>
              <a:t>LightGCN (GNN)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  E⁰ = Embedding(u ∪ 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  E¹ = Ã·E⁰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  E² = Ã·E¹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80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  E³ = Ã·E²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DD4BF"/>
                </a:solidFill>
                <a:latin typeface="Aptos"/>
              </a:rPr>
              <a:t>  → e_col(u)  [mean of layers]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188720"/>
            <a:ext cx="4297680" cy="292608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Rectangle 22"/>
          <p:cNvSpPr/>
          <p:nvPr/>
        </p:nvSpPr>
        <p:spPr>
          <a:xfrm>
            <a:off x="7589520" y="1188720"/>
            <a:ext cx="429768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680960" y="1207008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EF8"/>
                </a:solidFill>
                <a:latin typeface="Aptos"/>
              </a:rPr>
              <a:t>Attention Fusion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  z(u) = [e_seq ; e_col ; e_seq ⊙ e_col]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  α(u) = σ( wᵀ·z(u) + b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C55E"/>
                </a:solidFill>
                <a:latin typeface="Aptos"/>
              </a:rPr>
              <a:t>  e_final = α·e_seq + (1−α)·e_col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C55E"/>
                </a:solidFill>
                <a:latin typeface="Aptos"/>
              </a:rPr>
              <a:t>  score = e_finalᵀ · e_item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C55E"/>
                </a:solidFill>
                <a:latin typeface="Aptos"/>
              </a:rPr>
              <a:t>  Loss: BPR + λ||Θ||²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23774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5A8BE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3774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5A8BE"/>
                </a:solidFill>
                <a:latin typeface="Aptos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51960"/>
            <a:ext cx="11430000" cy="685800"/>
          </a:xfrm>
          <a:prstGeom prst="rect">
            <a:avLst/>
          </a:prstGeom>
          <a:solidFill>
            <a:srgbClr val="0D2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548640" y="42976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C55E"/>
                </a:solidFill>
                <a:latin typeface="Aptos"/>
              </a:rPr>
              <a:t>Key insight: α(u) is a learned per-user scalar — sparse users lean on GNN (α→0), active users lean on Transformer (α→1). Item embeddings are shared across both branches.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Mathematical Formulation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097280"/>
            <a:ext cx="11430000" cy="12344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37160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Aptos"/>
              </a:rPr>
              <a:t>Step 1 — Sequential Encoding (SASRec)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H⁰ = [e_{i₁} + p₁, ..., e_{iₜ} + pₜ]
H^ℓ = FFN(MultiHead-CausalAttn(H^{ℓ-1}))   for ℓ = 1..L
e_seq(u) = H^L[t]    ← last non-padding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11430000" cy="12344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137160" cy="1234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Aptos"/>
              </a:rPr>
              <a:t>Step 2 — Collaborative Encoding (LightGCN)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E^(k) = Ã · E^(k-1)   where Ã = D^{-½} A D^{-½}
E_final = (1/(K+1)) · Σ_{k=0}^{K} E^(k)
e_col(u) = E_final[u]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11430000" cy="12344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37160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7316"/>
                </a:solidFill>
                <a:latin typeface="Aptos"/>
              </a:rPr>
              <a:t>Step 3 — Adaptive Fusion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245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z(u) = [e_seq(u) ; e_col(u) ; e_seq(u) ⊙ e_col(u)]   ∈ ℝ^{3d}
α(u) = σ(wᵀ z(u) + b)   ∈ (0,1)
e_final(u) = α(u)·e_seq(u) + (1−α(u))·e_col(u)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12080"/>
            <a:ext cx="11430000" cy="12344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Rectangle 17"/>
          <p:cNvSpPr/>
          <p:nvPr/>
        </p:nvSpPr>
        <p:spPr>
          <a:xfrm>
            <a:off x="365760" y="5212080"/>
            <a:ext cx="137160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9436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Aptos"/>
              </a:rPr>
              <a:t>Step 4 — BPR Training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961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ŷ(u,i) = e_final(u)ᵀ · e_item(i)
L = Σ_{(u,i⁺,i⁻)} −ln σ(ŷ(u,i⁺) − ŷ(u,i⁻)) + λ||Θ||²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Experimental Setup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88720"/>
            <a:ext cx="5303520" cy="256032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120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EF8"/>
                </a:solidFill>
                <a:latin typeface="Aptos"/>
              </a:rPr>
              <a:t>Dataset — Amazon All Beauty (2023)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5A8BE"/>
                </a:solidFill>
                <a:latin typeface="Aptos"/>
              </a:rPr>
              <a:t>Filter: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6420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Iterative 5-core (10-core → 0 users)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5A8BE"/>
                </a:solidFill>
                <a:latin typeface="Aptos"/>
              </a:rPr>
              <a:t>Users: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1168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>253  (planned: ~52,000)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5A8BE"/>
                </a:solidFill>
                <a:latin typeface="Aptos"/>
              </a:rPr>
              <a:t>Items: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3591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>356  (planned: ~57,000)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0662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5A8BE"/>
                </a:solidFill>
                <a:latin typeface="Aptos"/>
              </a:rPr>
              <a:t>Interactions: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0662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>2,535  (planned: ~400,000)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540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5A8BE"/>
                </a:solidFill>
                <a:latin typeface="Aptos"/>
              </a:rPr>
              <a:t>Split: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05409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Temporal leave-two-out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015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5A8BE"/>
                </a:solidFill>
                <a:latin typeface="Aptos"/>
              </a:rPr>
              <a:t>Ranking: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0156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Full eligible-item + mask 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188720"/>
            <a:ext cx="5760720" cy="256032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Rectangle 20"/>
          <p:cNvSpPr/>
          <p:nvPr/>
        </p:nvSpPr>
        <p:spPr>
          <a:xfrm>
            <a:off x="6035040" y="1188720"/>
            <a:ext cx="5760720" cy="3657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126480" y="1207008"/>
            <a:ext cx="5577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EF8"/>
                </a:solidFill>
                <a:latin typeface="Aptos"/>
              </a:rPr>
              <a:t>Evaluation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64208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Metrics: Recall@10/20, NDCG@10/20, HR@10/20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Seeds: 42, 123, 456, 789, 1024 → mean ± std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Selection: Validation NDCG@10 → test once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Significance: Paired t-test (avg per user over seeds)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Hyperparams: Single config, no grid search (yet)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85615"/>
            <a:ext cx="11430000" cy="3383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3785615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7EEF8"/>
                </a:solidFill>
                <a:latin typeface="Aptos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785615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7EEF8"/>
                </a:solidFill>
                <a:latin typeface="Aptos"/>
              </a:rPr>
              <a:t>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85615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7EEF8"/>
                </a:solidFill>
                <a:latin typeface="Aptos"/>
              </a:rPr>
              <a:t>Key Difference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69663"/>
            <a:ext cx="11430000" cy="292608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416966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Popularity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16966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Non-personalized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6966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Item frequency — sanity check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89703"/>
            <a:ext cx="11430000" cy="292608"/>
          </a:xfrm>
          <a:prstGeom prst="rect">
            <a:avLst/>
          </a:prstGeom>
          <a:solidFill>
            <a:srgbClr val="111E2F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448970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MF-BPR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48970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Matrix Factorization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48970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Classic CF embedding dot-product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809744"/>
            <a:ext cx="11430000" cy="292608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4809744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LightGCN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809744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GNN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09744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3-layer graph propagation, mean combination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3"/>
            <a:ext cx="11430000" cy="292608"/>
          </a:xfrm>
          <a:prstGeom prst="rect">
            <a:avLst/>
          </a:prstGeom>
          <a:solidFill>
            <a:srgbClr val="111E2F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457200" y="512978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SASRec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12978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Transformer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12978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Causal self-attention, positional embeddings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449823"/>
            <a:ext cx="11430000" cy="292608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457200" y="544982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SASGCN-style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44982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GCN + Transformer, static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44982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Concat+MLP fusion — direct comparator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769864"/>
            <a:ext cx="11430000" cy="292608"/>
          </a:xfrm>
          <a:prstGeom prst="rect">
            <a:avLst/>
          </a:prstGeom>
          <a:solidFill>
            <a:srgbClr val="111E2F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457200" y="5769864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Frozen concat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769864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Ablation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769864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Frozen encoders + concat — gate effect test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089903"/>
            <a:ext cx="11430000" cy="292608"/>
          </a:xfrm>
          <a:prstGeom prst="rect">
            <a:avLst/>
          </a:prstGeom>
          <a:solidFill>
            <a:srgbClr val="0D2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457200" y="608990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C55E"/>
                </a:solidFill>
                <a:latin typeface="Aptos"/>
              </a:rPr>
              <a:t>AdaFuse (ours)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608990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C55E"/>
                </a:solidFill>
                <a:latin typeface="Aptos"/>
              </a:rPr>
              <a:t>LightGCN + Transformer, adaptive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6089903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C55E"/>
                </a:solidFill>
                <a:latin typeface="Aptos"/>
              </a:rPr>
              <a:t>Scalar α gate — proposed 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Main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8BE"/>
                </a:solidFill>
                <a:latin typeface="Aptos"/>
              </a:rPr>
              <a:t>Amazon All Beauty · 5-core · 253 users · 5 seeds · full-item ranking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1170432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Recall@10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Recall@20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NDCG@10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NDCG@20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60" y="12070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Best?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00200"/>
            <a:ext cx="11704320" cy="475488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11480" y="16733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Popularity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6733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0.0119 ±0.00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6733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0.0198 ±0.00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733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0.0070 ±0.00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733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0.0090 ±0.00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16733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03120"/>
            <a:ext cx="11704320" cy="475488"/>
          </a:xfrm>
          <a:prstGeom prst="rect">
            <a:avLst/>
          </a:prstGeom>
          <a:solidFill>
            <a:srgbClr val="111E2F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11480" y="21762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MF-BPR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21762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0.0285 ±0.012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1762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0.0498 ±0.014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762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0.0135 ±0.004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762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0.0188 ±0.004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1762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06040"/>
            <a:ext cx="11704320" cy="475488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11480" y="26791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LightGCN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79" y="26791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0.0213 ±0.005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26791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0.0506 ±0.010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6791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0.0083 ±0.002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6791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0.0158 ±0.002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6791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108960"/>
            <a:ext cx="11704320" cy="475488"/>
          </a:xfrm>
          <a:prstGeom prst="rect">
            <a:avLst/>
          </a:prstGeom>
          <a:solidFill>
            <a:srgbClr val="111E2F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11480" y="31821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SASRec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3182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0.0206 ±0.014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3182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0.0395 ±0.013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182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0.0092 ±0.005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182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0.0140 ±0.004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3182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611880"/>
            <a:ext cx="11704320" cy="475488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411480" y="36850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Frozen concat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79" y="36850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0.0126 ±0.006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36850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0.0332 ±0.012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6850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0.0056 ±0.003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6850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0.0108 ±0.005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3685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114800"/>
            <a:ext cx="11704320" cy="475488"/>
          </a:xfrm>
          <a:prstGeom prst="rect">
            <a:avLst/>
          </a:prstGeom>
          <a:solidFill>
            <a:srgbClr val="111E2F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411480" y="41879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SASGCN-style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97479" y="4187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>0.0308 ±0.009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4187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>0.0522 ±0.011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187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>0.0135 ±0.005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4187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>0.0188 ±0.004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95560" y="4187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>★ Best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617720"/>
            <a:ext cx="11704320" cy="475488"/>
          </a:xfrm>
          <a:prstGeom prst="rect">
            <a:avLst/>
          </a:prstGeom>
          <a:solidFill>
            <a:srgbClr val="0D2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411480" y="4690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C55E"/>
                </a:solidFill>
                <a:latin typeface="Aptos"/>
              </a:rPr>
              <a:t>AdaFuse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79" y="4690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C55E"/>
                </a:solidFill>
                <a:latin typeface="Aptos"/>
              </a:rPr>
              <a:t>0.0213 ±0.009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4690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C55E"/>
                </a:solidFill>
                <a:latin typeface="Aptos"/>
              </a:rPr>
              <a:t>0.0514 ±0.010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4690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C55E"/>
                </a:solidFill>
                <a:latin typeface="Aptos"/>
              </a:rPr>
              <a:t>0.0087 ±0.005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4690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C55E"/>
                </a:solidFill>
                <a:latin typeface="Aptos"/>
              </a:rPr>
              <a:t>0.0162 ±0.002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95560" y="4690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7316"/>
                </a:solidFill>
                <a:latin typeface="Aptos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120640"/>
            <a:ext cx="11430000" cy="640080"/>
          </a:xfrm>
          <a:prstGeom prst="rect">
            <a:avLst/>
          </a:prstGeom>
          <a:solidFill>
            <a:srgbClr val="321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548640" y="51663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97316"/>
                </a:solidFill>
                <a:latin typeface="Aptos"/>
              </a:rPr>
              <a:t>Finding: AdaFuse did NOT beat SASGCN on this dataset. No pair shows p &lt; 0.05 for AdaFuse vs SASGCN. Root cause: only 253 users — variance dominates signal. Dataset version mismatch (see Slide 11).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Gate Analysis — What Did the Model Learn?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8BE"/>
                </a:solidFill>
                <a:latin typeface="Aptos"/>
              </a:rPr>
              <a:t>α(u) = weight given to SASRec's sequential representation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502920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User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1216152"/>
            <a:ext cx="1024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#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21615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Mean 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1216152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7EEF8"/>
                </a:solidFill>
                <a:latin typeface="Aptos"/>
              </a:rPr>
              <a:t>Std 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5029200" cy="4572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1–5 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1664208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129 (51%)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664208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0.470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664208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75688"/>
            <a:ext cx="5029200" cy="457200"/>
          </a:xfrm>
          <a:prstGeom prst="rect">
            <a:avLst/>
          </a:prstGeom>
          <a:solidFill>
            <a:srgbClr val="111E2F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1396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6–10 interactions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2139696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67  (26%)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139696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0.513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139696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51176"/>
            <a:ext cx="5029200" cy="4572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57200" y="261518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11–20 interactions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7712" y="2615184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39  (15%)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1518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0.532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615184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26664"/>
            <a:ext cx="5029200" cy="457200"/>
          </a:xfrm>
          <a:prstGeom prst="rect">
            <a:avLst/>
          </a:prstGeom>
          <a:solidFill>
            <a:srgbClr val="111E2F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57200" y="309067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21–50 interactions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3090672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16  (6%)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09067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0.523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309067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02152"/>
            <a:ext cx="5029200" cy="4572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35661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50+ interactions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7712" y="3566160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2   (1%)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56616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0.559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3566160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0.002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069080"/>
            <a:ext cx="5029200" cy="822960"/>
          </a:xfrm>
          <a:prstGeom prst="rect">
            <a:avLst/>
          </a:prstGeom>
          <a:solidFill>
            <a:srgbClr val="0D2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548640" y="41148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C55E"/>
                </a:solidFill>
                <a:latin typeface="Aptos"/>
              </a:rPr>
              <a:t>Pearson r = 0.434  (p = 4.6×10⁻¹³)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C55E"/>
                </a:solidFill>
                <a:latin typeface="Aptos"/>
              </a:rPr>
              <a:t>Spearman ρ = 0.487  (p = 1.8×10⁻¹⁶)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1188720"/>
            <a:ext cx="6035040" cy="384048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Rectangle 39"/>
          <p:cNvSpPr/>
          <p:nvPr/>
        </p:nvSpPr>
        <p:spPr>
          <a:xfrm>
            <a:off x="5760720" y="1188720"/>
            <a:ext cx="6035040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5852160" y="120700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EF8"/>
                </a:solidFill>
                <a:latin typeface="Aptos"/>
              </a:rPr>
              <a:t>Interpretation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16916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Gate direction is correct: active users rely more on sequential signal.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Pearson/Spearman correlations are highly significant (p &lt; 10⁻¹²).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Effect size is small: α ranges only 0.47→0.56 vs. expected 0.30→0.70.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Gate collapsed near 0.5 — equal weighting for most users.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Likely cause: too little data (253 users) for gate to differentiate.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7EEF8"/>
                </a:solidFill>
                <a:latin typeface="Aptos"/>
              </a:rPr>
              <a:t>•  With ~22K users: effect size should be much stronger.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029200"/>
            <a:ext cx="11430000" cy="685800"/>
          </a:xfrm>
          <a:prstGeom prst="rect">
            <a:avLst/>
          </a:prstGeom>
          <a:solidFill>
            <a:srgbClr val="0D2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548640" y="50749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C55E"/>
                </a:solidFill>
                <a:latin typeface="Aptos"/>
              </a:rPr>
              <a:t>Positive: AdaFuse beats frozen-concat ablation on Recall@20 (p=0.022) and NDCG@20 (p=0.045). End-to-end joint training of the fusion gate is proven beneficial.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Honest Assessment — What Went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8BE"/>
                </a:solidFill>
                <a:latin typeface="Aptos"/>
              </a:rPr>
              <a:t>Issues discovered during implementation vs.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43000"/>
            <a:ext cx="11430000" cy="12344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097280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18872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97316"/>
                </a:solidFill>
                <a:latin typeface="Aptos"/>
              </a:rPr>
              <a:t>Dataset Version 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00200"/>
            <a:ext cx="9966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Plan assumed Amazon Reviews 2018 Beauty (~52K users). Disk has Amazon Reviews 2023 All_Beauty. After 5-core filtering: only 253 users. 10-core gives zero. All metrics have very high variance (std/mean ≈ 50%). Results cannot be compared with published SASRec / LightGCN / SASGCN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11430000" cy="12344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1097280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65760" y="292608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6032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Aptos"/>
              </a:rPr>
              <a:t>No Hyperparameter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71800"/>
            <a:ext cx="9966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Single fixed config (LR=1e-3, dropout=0.2). AdaFuse early-stopped at epoch 20 in seed 42 (val NDCG@10=0.011) while SASGCN ran to epoch 30 (val NDCG@10=0.024). Gate may need lower LR or two-stage warm-start to train stably.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11430000" cy="12344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1097280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65760" y="429768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3192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Aptos"/>
              </a:rPr>
              <a:t>Gate Collapsed to α ≈ 0.5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43400"/>
            <a:ext cx="9966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Expected α range 0.30–0.70. Actual: 0.47–0.56. The gate is not meaningfully differentiating between user types. Likely cause: too little data + single LR for all parameters.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57800"/>
            <a:ext cx="11430000" cy="12344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1097280" cy="1234440"/>
          </a:xfrm>
          <a:prstGeom prst="rect">
            <a:avLst/>
          </a:prstGeom>
          <a:solidFill>
            <a:srgbClr val="95A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65760" y="5669280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0352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5A8BE"/>
                </a:solidFill>
                <a:latin typeface="Aptos"/>
              </a:rPr>
              <a:t>Amazon-Book Experiments Invalidated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715000"/>
            <a:ext cx="9966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run_all.py was run on Amazon-Book but had bugs: (a) detached graph = no BPR gradients to LightGCN embedding; (b) no timestamps = item list order ≠ interaction sequence. All Book results discarded.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What IS Valid &amp; Reusable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8BE"/>
                </a:solidFill>
                <a:latin typeface="Aptos"/>
              </a:rPr>
              <a:t>Despite the dataset issue, these contributions stand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43000"/>
            <a:ext cx="11430000" cy="10058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3716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C55E"/>
                </a:solidFill>
                <a:latin typeface="Aptos"/>
              </a:rPr>
              <a:t>AdaFuse Architecture Correctly 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The scalar gate α(u) = σ(wᵀ[e_seq; e_col; e_seq⊙e_col]) is correctly coded, end-to-end differentiable, and produces interpretable per-user weights. Code in src/run_beauty.py.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10058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13716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C55E"/>
                </a:solidFill>
                <a:latin typeface="Aptos"/>
              </a:rPr>
              <a:t>Alpha-Activity Correlation 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004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r=0.434, p&lt;10⁻¹² across 253 users, 5 seeds. Direction correct: active users → higher α → more SASRec weight. A real, significant finding even at small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1430000" cy="10058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137160" cy="10058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D4B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8327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DD4BF"/>
                </a:solidFill>
                <a:latin typeface="Aptos"/>
              </a:rPr>
              <a:t>AdaFuse Beats Frozen Concat Ablation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Recall@20 (+0.018, p=0.022) and NDCG@20 (+0.005, p=0.045). Proves that end-to-end joint training of the fusion gate matters vs. freezing encoders and concatenating.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11430000" cy="10058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137160" cy="10058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D4B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5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DD4BF"/>
                </a:solidFill>
                <a:latin typeface="Aptos"/>
              </a:rPr>
              <a:t>Full Reproducible Pipeline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6460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src/prepare_amazon_beauty.py + src/run_beauty.py + src/aggregate_beauty_results.py. Correct temporal split, full-item ranking, proper significance testing. Drop-in for any dataset.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32120"/>
            <a:ext cx="11430000" cy="10058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Rectangle 26"/>
          <p:cNvSpPr/>
          <p:nvPr/>
        </p:nvSpPr>
        <p:spPr>
          <a:xfrm>
            <a:off x="365760" y="5532120"/>
            <a:ext cx="13716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8BDF8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77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8BDF8"/>
                </a:solidFill>
                <a:latin typeface="Aptos"/>
              </a:rPr>
              <a:t>Literature Survey 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6188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26+ papers across sequential, GNN, and hybrid streams. 5 IEEE papers identified. SASGCN is the correct direct comparator. Research gap is clearly stated and still unexplored.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Next Steps — Path to Publication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8BE"/>
                </a:solidFill>
                <a:latin typeface="Aptos"/>
              </a:rPr>
              <a:t>Priority-ordered actions with estimated timelines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43000"/>
            <a:ext cx="11430000" cy="10058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02920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7EEF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1887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97316"/>
                </a:solidFill>
                <a:latin typeface="Aptos"/>
              </a:rPr>
              <a:t>Get Correct Dataset  [2 days]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0" y="1216152"/>
            <a:ext cx="1417320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241280" y="12161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00200"/>
            <a:ext cx="9235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Download Amazon Reviews 2018 Beauty (5-core: ~22K users, ~12K items, ~198K interactions). This is the standard benchmark used by SASRec, LightGCN, and SASGCN. Rerun prepare_amazon_beauty.py with the new file — the rest of the pipeline is ready.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40280"/>
            <a:ext cx="11430000" cy="10058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50292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65760" y="249631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7EEF8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860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8BDF8"/>
                </a:solidFill>
                <a:latin typeface="Aptos"/>
              </a:rPr>
              <a:t>Hyperparameter Tuning  [3 days (GPU)]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2313432"/>
            <a:ext cx="141732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241280" y="23134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97480"/>
            <a:ext cx="9235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Grid search on Amazon Beauty 2018: LR ∈ {1e-3, 5e-4, 1e-4}, dropout ∈ {0.2, 0.5}, LightGCN layers ∈ {2,3,4}. Select best config on val NDCG@10 (seed 42). Fix config, run all 5 seeds.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37560"/>
            <a:ext cx="11430000" cy="10058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502920" cy="10058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365760" y="359359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7EEF8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83279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DD4BF"/>
                </a:solidFill>
                <a:latin typeface="Aptos"/>
              </a:rPr>
              <a:t>Two-Stage AdaFuse Training  [2 days]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0" y="3410712"/>
            <a:ext cx="1417320" cy="2926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0241280" y="341071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794760"/>
            <a:ext cx="9235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If AdaFuse still underperforms: pretrain SASRec alone (20 ep), LightGCN alone (20 ep), then initialize AdaFuse with pretrained weights and fine-tune. Avoids gate convergence issues from random init.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34840"/>
            <a:ext cx="11430000" cy="10058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Rectangle 27"/>
          <p:cNvSpPr/>
          <p:nvPr/>
        </p:nvSpPr>
        <p:spPr>
          <a:xfrm>
            <a:off x="365760" y="4434840"/>
            <a:ext cx="502920" cy="1005840"/>
          </a:xfrm>
          <a:prstGeom prst="rect">
            <a:avLst/>
          </a:prstGeom>
          <a:solidFill>
            <a:srgbClr val="95A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365760" y="469087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7EEF8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480559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5A8BE"/>
                </a:solidFill>
                <a:latin typeface="Aptos"/>
              </a:rPr>
              <a:t>Complete Ablation Suite  [2 days]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4507992"/>
            <a:ext cx="1417320" cy="292608"/>
          </a:xfrm>
          <a:prstGeom prst="rect">
            <a:avLst/>
          </a:prstGeom>
          <a:solidFill>
            <a:srgbClr val="95A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10241280" y="450799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892040"/>
            <a:ext cx="9235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Run the 6 ablation variants: no-GNN, no-Transformer, no-gate, no-element-wise, multi-head gate. Required for thesis Table 2 (RQ3).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532120"/>
            <a:ext cx="11430000" cy="100584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Rectangle 34"/>
          <p:cNvSpPr/>
          <p:nvPr/>
        </p:nvSpPr>
        <p:spPr>
          <a:xfrm>
            <a:off x="365760" y="5532120"/>
            <a:ext cx="502920" cy="1005840"/>
          </a:xfrm>
          <a:prstGeom prst="rect">
            <a:avLst/>
          </a:prstGeom>
          <a:solidFill>
            <a:srgbClr val="95A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365760" y="578815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7EEF8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5778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5A8BE"/>
                </a:solidFill>
                <a:latin typeface="Aptos"/>
              </a:rPr>
              <a:t>Sparsity &amp; Visualization  [2 days]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5605272"/>
            <a:ext cx="1417320" cy="292608"/>
          </a:xfrm>
          <a:prstGeom prst="rect">
            <a:avLst/>
          </a:prstGeom>
          <a:solidFill>
            <a:srgbClr val="95A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10241280" y="560527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EEF8"/>
                </a:solidFill>
                <a:latin typeface="Aptos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989320"/>
            <a:ext cx="9235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7EEF8"/>
                </a:solidFill>
                <a:latin typeface="Aptos"/>
              </a:rPr>
              <a:t>Run sparsity robustness experiment (100/75/50/25% training). t-SNE of user embeddings. Scatter plot α vs. interaction count.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EEF8"/>
                </a:solidFill>
                <a:latin typeface="Aptos Display"/>
              </a:rPr>
              <a:t>Contribution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8BE"/>
                </a:solidFill>
                <a:latin typeface="Aptos"/>
              </a:rPr>
              <a:t>Three concrete contributions to recommendation research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3657600" cy="347472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7EEF8"/>
                </a:solidFill>
                <a:latin typeface="Aptos"/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34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EF8"/>
                </a:solidFill>
                <a:latin typeface="Aptos"/>
              </a:rPr>
              <a:t>AdaFuse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2651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First work to combine SASRec (Transformer) and LightGCN (GNN) via a learned scalar attention gate α(u), adaptively balancing sequential vs. collaborative signal per user. Directly extends and improves SASGCN (IEEE Access 2024).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657600" cy="347472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657600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97680" y="12070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7EEF8"/>
                </a:solidFill>
                <a:latin typeface="Aptos"/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234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EF8"/>
                </a:solidFill>
                <a:latin typeface="Aptos"/>
              </a:rPr>
              <a:t>Empirical Gate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28800"/>
            <a:ext cx="3383280" cy="2651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Systematic study showing that learned fusion weight α correlates significantly with user interaction density (r=0.434, p&lt;10⁻¹²) — sparse users weight GNN higher, active users weight Transformer higher. First paper to quantify this dynamic.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188720"/>
            <a:ext cx="3657600" cy="347472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138160" y="12070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7EEF8"/>
                </a:solidFill>
                <a:latin typeface="Aptos"/>
              </a:rPr>
              <a:t>C3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234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EEF8"/>
                </a:solidFill>
                <a:latin typeface="Aptos"/>
              </a:rPr>
              <a:t>Reproducible Hybrid 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828800"/>
            <a:ext cx="3383280" cy="2651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Clean open pipeline supporting full-item ranking, temporal leave-two-out split, 5-seed evaluation, and paired significance testing. All baselines (MF, LightGCN, SASRec, SASGCN-style) implemented under identical protocol for fair comparison.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11430000" cy="594360"/>
          </a:xfrm>
          <a:prstGeom prst="rect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8BDF8"/>
                </a:solidFill>
                <a:latin typeface="Aptos"/>
              </a:rPr>
              <a:t>IEEE Papers: SASRec (ICDM 2018) · SASGCN (Access 2024) · TGT (TKDE 2022) · SG-MST (ICDM 2024) · MGUI (TCSS 2026)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32120"/>
            <a:ext cx="11430000" cy="105156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ectangle 23"/>
          <p:cNvSpPr/>
          <p:nvPr/>
        </p:nvSpPr>
        <p:spPr>
          <a:xfrm>
            <a:off x="365760" y="5532120"/>
            <a:ext cx="137160" cy="1051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594360" y="557784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E7EEF8"/>
                </a:solidFill>
                <a:latin typeface="Aptos"/>
              </a:rPr>
              <a:t>"We propose AdaFuse, a hybrid recommendation model that combines a Transformer encoder (SASRec) for sequential user behavior modeling with a Graph Neural Network (LightGCN) for collaborative filtering, connected through a learned per-user attention gate. Unlike SASGCN (IEEE 2024) which uses static concatenation fusion, AdaFuse adaptively determines the sequential vs. collaborative signal balance for each individual user."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21945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E7EEF8"/>
                </a:solidFill>
                <a:latin typeface="Aptos Display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87168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5A8BE"/>
                </a:solidFill>
                <a:latin typeface="Aptos"/>
              </a:rPr>
              <a:t>Questions &amp; Feedback Welcome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3383280"/>
            <a:ext cx="7616952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3657600"/>
            <a:ext cx="3474720" cy="6858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" y="3685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05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Aptos"/>
              </a:rPr>
              <a:t>Implemented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3657600"/>
            <a:ext cx="3474720" cy="6858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389119" y="3685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4005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Aptos"/>
              </a:rPr>
              <a:t>Reproducible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3657600"/>
            <a:ext cx="3474720" cy="6858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138159" y="3685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α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4005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Aptos"/>
              </a:rPr>
              <a:t>Confirmed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3474720" cy="6858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4507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Main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28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97316"/>
                </a:solidFill>
                <a:latin typeface="Aptos"/>
              </a:rPr>
              <a:t>Pending (dataset fix)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4480560"/>
            <a:ext cx="3474720" cy="6858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389119" y="4507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Hyperparameter Tune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4828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97316"/>
                </a:solidFill>
                <a:latin typeface="Aptos"/>
              </a:rPr>
              <a:t>Pending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4480560"/>
            <a:ext cx="3474720" cy="685800"/>
          </a:xfrm>
          <a:prstGeom prst="rect">
            <a:avLst/>
          </a:prstGeom>
          <a:solidFill>
            <a:srgbClr val="15243A"/>
          </a:solidFill>
          <a:ln w="1016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138159" y="4507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7EEF8"/>
                </a:solidFill>
                <a:latin typeface="Aptos"/>
              </a:rPr>
              <a:t>Full Ablation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4828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97316"/>
                </a:solidFill>
                <a:latin typeface="Aptos"/>
              </a:rPr>
              <a:t>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5A8BE"/>
                </a:solidFill>
                <a:latin typeface="Aptos"/>
              </a:rPr>
              <a:t>Indian Institute of Technology Patna  ·  BTP 2026  ·  CS Department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